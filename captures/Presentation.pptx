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899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108960" cy="5015484"/>
          </a:xfrm>
          <a:prstGeom prst="rect">
            <a:avLst/>
          </a:prstGeom>
          <a:solidFill>
            <a:srgbClr val="061629"/>
          </a:solidFill>
          <a:ln w="12700">
            <a:solidFill>
              <a:srgbClr val="0616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3017520"/>
            <a:ext cx="2926080" cy="2926080"/>
          </a:xfrm>
          <a:prstGeom prst="ellipse">
            <a:avLst/>
          </a:prstGeom>
          <a:solidFill>
            <a:srgbClr val="031020"/>
          </a:solidFill>
          <a:ln w="12700">
            <a:solidFill>
              <a:srgbClr val="031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474720"/>
            <a:ext cx="2011680" cy="201168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6576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🤖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91840" y="3474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PROJET MACHINE LEARNING 2025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80467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1426464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 du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91840" y="199339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Demandes Clients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7614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D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Sénégalaise — Supérette Dakar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3291840"/>
            <a:ext cx="4114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45643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D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374904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Marieme DIOP  ·  Babacar SARR  ·  Dieynaba SOW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427939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FastAPI  ·  n8n Cloud  ·  SMTP Gmail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154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de la Présentation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82880" y="749808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49808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749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749808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04672" y="1078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Réalité des PME sénégalaises et besoins identifiés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1453896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453896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4538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1453896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système doit réaliser automatiquement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157984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157984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21579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2157984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4672" y="2487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: Python → API → n8n Cloud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2880" y="2862072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2862072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28620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2862072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2916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Dataset &amp; Modèle ML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4672" y="3191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Collecte, pipeline TF-IDF + Régression Logistique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2880" y="3566160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3566160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3566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" y="3566160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Résultats du Modèle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04672" y="3895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86.5 %, F1 87.9 %, tableau par classe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2880" y="4270248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4270248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2880" y="42702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5800" y="4270248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API FastAPI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04672" y="4599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endpoints, Swagger, validation Pydantic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749808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749808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7498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257800" y="749808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76672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Workflow n8n Cloud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376672" y="1078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nœuds, formulaire, routing cascade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1453896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1453896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145389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257800" y="1453896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76672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— Routing Email Ciblé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376672" y="1783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service reçoit le mail selon la classe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54880" y="2157984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2157984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21579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257800" y="2157984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76672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Postman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376672" y="2487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tests : cas nominaux + erreurs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54880" y="2862072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54880" y="2862072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28620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257800" y="2862072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76672" y="2916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&amp; Solutions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5376672" y="3191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bugs rencontrés et corrigés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754880" y="3566160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754880" y="3566160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3566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257800" y="3566160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76672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5376672" y="3895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 réels de bout en bout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754880" y="4270248"/>
            <a:ext cx="4343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754880" y="4270248"/>
            <a:ext cx="502920" cy="594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427024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257800" y="4270248"/>
            <a:ext cx="457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76672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5376672" y="4599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améliorations possibles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Sujet ISI DITI4 — Examen ML + n8n 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1148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60120"/>
            <a:ext cx="4114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Les PME Sénégalaises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004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Reçoivent quotidiennement des demandes via 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874520"/>
            <a:ext cx="3767328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11096"/>
            <a:ext cx="3566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WhatsApp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7472" y="2496312"/>
            <a:ext cx="3767328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32888"/>
            <a:ext cx="3566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7472" y="3118104"/>
            <a:ext cx="3767328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3566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Formulaires en ligne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3739896"/>
            <a:ext cx="3767328" cy="521208"/>
          </a:xfrm>
          <a:prstGeom prst="rect">
            <a:avLst/>
          </a:prstGeom>
          <a:solidFill>
            <a:srgbClr val="F7F9FC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76472"/>
            <a:ext cx="3566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Messages Facebook / Site web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29768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960120"/>
            <a:ext cx="42976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Sans automatisation…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828032" y="1481328"/>
            <a:ext cx="3950208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5087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Demandes mal classées ou perdues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28032" y="2048256"/>
            <a:ext cx="3950208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0756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Traitement tardif — clients mécontents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28032" y="2615184"/>
            <a:ext cx="3950208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6426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Envoyées au mauvais service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28032" y="3182112"/>
            <a:ext cx="3950208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2095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Surcharge des équipes commerciales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28032" y="3749040"/>
            <a:ext cx="3950208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7764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Perte de clients et de revenus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système automatisé basé sur ML et n8n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2834640" cy="1783080"/>
          </a:xfrm>
          <a:prstGeom prst="rect">
            <a:avLst/>
          </a:prstGeom>
          <a:solidFill>
            <a:srgbClr val="EFF6FF"/>
          </a:solidFill>
          <a:ln w="17780">
            <a:solidFill>
              <a:srgbClr val="2563E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60120"/>
            <a:ext cx="28346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088136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10515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07008" y="1088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" y="1581912"/>
            <a:ext cx="260604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automatiquement le texte de chaque demande client entrante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72968" y="960120"/>
            <a:ext cx="2834640" cy="1783080"/>
          </a:xfrm>
          <a:prstGeom prst="rect">
            <a:avLst/>
          </a:prstGeom>
          <a:solidFill>
            <a:srgbClr val="E6F6F7"/>
          </a:solidFill>
          <a:ln w="17780">
            <a:solidFill>
              <a:srgbClr val="02809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960120"/>
            <a:ext cx="28346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2696" y="1088136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10515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197096" y="1088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82696" y="1581912"/>
            <a:ext cx="260604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en 4 catégories : Information, Commande, Réclamation, Urgence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960120"/>
            <a:ext cx="2834640" cy="1783080"/>
          </a:xfrm>
          <a:prstGeom prst="rect">
            <a:avLst/>
          </a:prstGeom>
          <a:solidFill>
            <a:srgbClr val="FFFBEB"/>
          </a:solidFill>
          <a:ln w="1778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960120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2784" y="1088136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93408" y="105156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87184" y="108813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72784" y="1581912"/>
            <a:ext cx="260604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une action automatique adaptée (email, CSV, réponse) selon la classe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82880" y="2926080"/>
            <a:ext cx="2834640" cy="1783080"/>
          </a:xfrm>
          <a:prstGeom prst="rect">
            <a:avLst/>
          </a:prstGeom>
          <a:solidFill>
            <a:srgbClr val="FEF2F2"/>
          </a:solidFill>
          <a:ln w="17780">
            <a:solidFill>
              <a:srgbClr val="DC262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926080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2608" y="3054096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" y="30175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207008" y="30540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92608" y="3547872"/>
            <a:ext cx="260604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un email uniquement au service concerné — aucun autre service n'est notifié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72968" y="2926080"/>
            <a:ext cx="2834640" cy="1783080"/>
          </a:xfrm>
          <a:prstGeom prst="rect">
            <a:avLst/>
          </a:prstGeom>
          <a:solidFill>
            <a:srgbClr val="F5F3FF"/>
          </a:solidFill>
          <a:ln w="1778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72968" y="2926080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82696" y="305409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82696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03320" y="30175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197096" y="30540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282696" y="3547872"/>
            <a:ext cx="260604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automatiquement toutes les demandes dans un fichier historique CSV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63056" y="2926080"/>
            <a:ext cx="2834640" cy="1783080"/>
          </a:xfrm>
          <a:prstGeom prst="rect">
            <a:avLst/>
          </a:prstGeom>
          <a:solidFill>
            <a:srgbClr val="ECFDF5"/>
          </a:solidFill>
          <a:ln w="1778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63056" y="2926080"/>
            <a:ext cx="28346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72784" y="3054096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2784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93408" y="301752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187184" y="30540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72784" y="3547872"/>
            <a:ext cx="260604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au client une page de confirmation personnalisée selon la classe détectée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 du Système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complète : Dataset → Modèle ML → API → ngrok → n8n Cloud → 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" y="868680"/>
            <a:ext cx="1600200" cy="1920240"/>
          </a:xfrm>
          <a:prstGeom prst="rect">
            <a:avLst/>
          </a:prstGeom>
          <a:solidFill>
            <a:srgbClr val="EFF6FF"/>
          </a:solidFill>
          <a:ln w="17780">
            <a:solidFill>
              <a:srgbClr val="2563E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868680"/>
            <a:ext cx="1600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9601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" y="1618488"/>
            <a:ext cx="16002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" y="2093976"/>
            <a:ext cx="16002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exemples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annotés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15727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874520" y="868680"/>
            <a:ext cx="1600200" cy="1920240"/>
          </a:xfrm>
          <a:prstGeom prst="rect">
            <a:avLst/>
          </a:prstGeom>
          <a:solidFill>
            <a:srgbClr val="E6F6F7"/>
          </a:solidFill>
          <a:ln w="17780">
            <a:solidFill>
              <a:srgbClr val="02809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74520" y="868680"/>
            <a:ext cx="1600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9601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874520" y="1618488"/>
            <a:ext cx="16002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2093976"/>
            <a:ext cx="16002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LogReg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15727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11880" y="868680"/>
            <a:ext cx="1600200" cy="1920240"/>
          </a:xfrm>
          <a:prstGeom prst="rect">
            <a:avLst/>
          </a:prstGeom>
          <a:solidFill>
            <a:srgbClr val="F5F3FF"/>
          </a:solidFill>
          <a:ln w="1778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11880" y="868680"/>
            <a:ext cx="1600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9601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611880" y="1618488"/>
            <a:ext cx="16002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11880" y="2093976"/>
            <a:ext cx="16002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12080" y="15727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349240" y="868680"/>
            <a:ext cx="1600200" cy="1920240"/>
          </a:xfrm>
          <a:prstGeom prst="rect">
            <a:avLst/>
          </a:prstGeom>
          <a:solidFill>
            <a:srgbClr val="F0F4F8"/>
          </a:solidFill>
          <a:ln w="17780">
            <a:solidFill>
              <a:srgbClr val="5A6A7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9240" y="868680"/>
            <a:ext cx="1600200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9601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349240" y="1618488"/>
            <a:ext cx="16002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2093976"/>
            <a:ext cx="16002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public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15727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086600" y="868680"/>
            <a:ext cx="1600200" cy="1920240"/>
          </a:xfrm>
          <a:prstGeom prst="rect">
            <a:avLst/>
          </a:prstGeom>
          <a:solidFill>
            <a:srgbClr val="FFFBEB"/>
          </a:solidFill>
          <a:ln w="1778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86600" y="868680"/>
            <a:ext cx="16002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9601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086600" y="1618488"/>
            <a:ext cx="16002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86600" y="2093976"/>
            <a:ext cx="16002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7160" y="294436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 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37160" y="3337560"/>
            <a:ext cx="166420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scikit-learn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920240" y="3337560"/>
            <a:ext cx="166420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0240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03320" y="3337560"/>
            <a:ext cx="1664208" cy="4572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03320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(tunnel)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3337560"/>
            <a:ext cx="1664208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69480" y="3337560"/>
            <a:ext cx="1664208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69480" y="333756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Gmail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37160" y="3931920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déclenchées :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37160" y="4315968"/>
            <a:ext cx="1664208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315968"/>
            <a:ext cx="16642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Email urgence@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920240" y="4315968"/>
            <a:ext cx="1664208" cy="59436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0" y="4315968"/>
            <a:ext cx="16642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Email service-client@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703320" y="4315968"/>
            <a:ext cx="1664208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03320" y="4315968"/>
            <a:ext cx="16642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Email stock@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0" y="4315968"/>
            <a:ext cx="1664208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0" y="4315968"/>
            <a:ext cx="16642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Réponse auto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269480" y="4315968"/>
            <a:ext cx="1664208" cy="594360"/>
          </a:xfrm>
          <a:prstGeom prst="rect">
            <a:avLst/>
          </a:prstGeom>
          <a:solidFill>
            <a:srgbClr val="F0F4F8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4315968"/>
            <a:ext cx="1664208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CSV historique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Dataset : Collecte &amp; Préparation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exemples annotés manuellement en français (messages clients PME)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2057400" cy="1417320"/>
          </a:xfrm>
          <a:prstGeom prst="rect">
            <a:avLst/>
          </a:prstGeom>
          <a:solidFill>
            <a:srgbClr val="E6F6F7"/>
          </a:solidFill>
          <a:ln w="16510">
            <a:solidFill>
              <a:srgbClr val="02809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14400"/>
            <a:ext cx="20574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024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2880" y="1783080"/>
            <a:ext cx="2057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totaux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914400"/>
            <a:ext cx="2057400" cy="1417320"/>
          </a:xfrm>
          <a:prstGeom prst="rect">
            <a:avLst/>
          </a:prstGeom>
          <a:solidFill>
            <a:srgbClr val="EFF6FF"/>
          </a:solidFill>
          <a:ln w="16510">
            <a:solidFill>
              <a:srgbClr val="2563E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914400"/>
            <a:ext cx="2057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024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423160" y="1783080"/>
            <a:ext cx="2057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2057400" cy="1417320"/>
          </a:xfrm>
          <a:prstGeom prst="rect">
            <a:avLst/>
          </a:prstGeom>
          <a:solidFill>
            <a:srgbClr val="F5F3FF"/>
          </a:solidFill>
          <a:ln w="1651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14400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24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63440" y="1783080"/>
            <a:ext cx="2057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dataset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914400"/>
            <a:ext cx="2057400" cy="1417320"/>
          </a:xfrm>
          <a:prstGeom prst="rect">
            <a:avLst/>
          </a:prstGeom>
          <a:solidFill>
            <a:srgbClr val="ECFDF5"/>
          </a:solidFill>
          <a:ln w="1651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914400"/>
            <a:ext cx="2057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024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2057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 test)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" y="248716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classes (stratifiée) 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" y="2880360"/>
            <a:ext cx="87782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68880" y="2971800"/>
            <a:ext cx="5669280" cy="237744"/>
          </a:xfrm>
          <a:prstGeom prst="rect">
            <a:avLst/>
          </a:prstGeom>
          <a:solidFill>
            <a:srgbClr val="2563EB">
              <a:alpha val="8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ex.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05088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" y="3383280"/>
            <a:ext cx="87782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383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Commande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68880" y="3474720"/>
            <a:ext cx="4251960" cy="237744"/>
          </a:xfrm>
          <a:prstGeom prst="rect">
            <a:avLst/>
          </a:prstGeom>
          <a:solidFill>
            <a:srgbClr val="059669">
              <a:alpha val="85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383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ex.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05088" y="3383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3886200"/>
            <a:ext cx="87782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886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Réclamation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68880" y="3977640"/>
            <a:ext cx="4251960" cy="237744"/>
          </a:xfrm>
          <a:prstGeom prst="rect">
            <a:avLst/>
          </a:prstGeom>
          <a:solidFill>
            <a:srgbClr val="D97706">
              <a:alpha val="8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0" y="3886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ex.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05088" y="3886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2880" y="4389120"/>
            <a:ext cx="87782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389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Urgence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468880" y="4480560"/>
            <a:ext cx="3291840" cy="237744"/>
          </a:xfrm>
          <a:prstGeom prst="rect">
            <a:avLst/>
          </a:prstGeom>
          <a:solidFill>
            <a:srgbClr val="DC2626">
              <a:alpha val="8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4389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ex.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705088" y="4389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" y="4919472"/>
            <a:ext cx="8778240" cy="91440"/>
          </a:xfrm>
          <a:prstGeom prst="rect">
            <a:avLst/>
          </a:prstGeom>
          <a:solidFill>
            <a:srgbClr val="E6F6F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4919472"/>
            <a:ext cx="8631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Stratification appliquée lors du découpage train/test pour garantir la représentativité de chaque classe.</a:t>
            </a:r>
            <a:endParaRPr lang="en-US" sz="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Pipeline ML : Entraînement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train_model.py  →  model/saved/classifier.joblib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" y="914400"/>
            <a:ext cx="1609344" cy="192024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914400"/>
            <a:ext cx="1609344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1005840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" y="1664208"/>
            <a:ext cx="16093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" y="2121408"/>
            <a:ext cx="1609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client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9808" y="56692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566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46504" y="160934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911096" y="914400"/>
            <a:ext cx="1609344" cy="1920240"/>
          </a:xfrm>
          <a:prstGeom prst="rect">
            <a:avLst/>
          </a:prstGeom>
          <a:solidFill>
            <a:srgbClr val="F0F4F8"/>
          </a:solidFill>
          <a:ln w="19050">
            <a:solidFill>
              <a:srgbClr val="5A6A7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11096" y="914400"/>
            <a:ext cx="1609344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11096" y="1005840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911096" y="1664208"/>
            <a:ext cx="16093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11096" y="2121408"/>
            <a:ext cx="1609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Nulls, colonnes,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valid.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23744" y="566928"/>
            <a:ext cx="347472" cy="3474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566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160934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85032" y="914400"/>
            <a:ext cx="1609344" cy="192024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85032" y="914400"/>
            <a:ext cx="160934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1005840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685032" y="1664208"/>
            <a:ext cx="16093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grammes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85032" y="2121408"/>
            <a:ext cx="1609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sublinear_tf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97680" y="56692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566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94376" y="160934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58968" y="914400"/>
            <a:ext cx="1609344" cy="1920240"/>
          </a:xfrm>
          <a:prstGeom prst="rect">
            <a:avLst/>
          </a:prstGeom>
          <a:solidFill>
            <a:srgbClr val="E6F6F7"/>
          </a:solidFill>
          <a:ln w="19050">
            <a:solidFill>
              <a:srgbClr val="02809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58968" y="914400"/>
            <a:ext cx="1609344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58968" y="1005840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458968" y="1664208"/>
            <a:ext cx="16093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58968" y="2121408"/>
            <a:ext cx="1609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C=1.0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class_weight=balanced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71616" y="56692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566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68312" y="160934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232904" y="914400"/>
            <a:ext cx="1609344" cy="192024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32904" y="914400"/>
            <a:ext cx="160934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32904" y="1005840"/>
            <a:ext cx="1609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232904" y="1664208"/>
            <a:ext cx="160934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32904" y="2121408"/>
            <a:ext cx="1609344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Probabilités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classe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845552" y="566928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5552" y="566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82880" y="2990088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d'exécution :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82880" y="3401568"/>
            <a:ext cx="2084832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2880" y="3401568"/>
            <a:ext cx="2084832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42416" y="350215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42416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74320" y="34198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venv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3858768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23160" y="3401568"/>
            <a:ext cx="2084832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23160" y="3401568"/>
            <a:ext cx="2084832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82696" y="350215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82696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514600" y="34198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le modèle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514600" y="3858768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train_model.py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663440" y="3401568"/>
            <a:ext cx="2084832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63440" y="3401568"/>
            <a:ext cx="208483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22976" y="350215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22976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754880" y="34198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l'API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754880" y="3858768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run_api.py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903720" y="3401568"/>
            <a:ext cx="2084832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03720" y="3401568"/>
            <a:ext cx="2084832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63256" y="350215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63256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995160" y="34198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via ngrok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995160" y="3858768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ngrok http 8000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Résultats du Modèle ML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sur 37 exemples de test  ·  Validation croisée 5 folds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2057400" cy="1417320"/>
          </a:xfrm>
          <a:prstGeom prst="rect">
            <a:avLst/>
          </a:prstGeom>
          <a:solidFill>
            <a:srgbClr val="E6F6F7"/>
          </a:solidFill>
          <a:ln w="16510">
            <a:solidFill>
              <a:srgbClr val="02809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14400"/>
            <a:ext cx="20574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024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82880" y="1783080"/>
            <a:ext cx="2057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914400"/>
            <a:ext cx="2057400" cy="1417320"/>
          </a:xfrm>
          <a:prstGeom prst="rect">
            <a:avLst/>
          </a:prstGeom>
          <a:solidFill>
            <a:srgbClr val="EFF6FF"/>
          </a:solidFill>
          <a:ln w="16510">
            <a:solidFill>
              <a:srgbClr val="2563E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914400"/>
            <a:ext cx="2057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024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423160" y="1783080"/>
            <a:ext cx="2057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moyen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(CV-5)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2057400" cy="1417320"/>
          </a:xfrm>
          <a:prstGeom prst="rect">
            <a:avLst/>
          </a:prstGeom>
          <a:solidFill>
            <a:srgbClr val="F5F3FF"/>
          </a:solidFill>
          <a:ln w="1651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14400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24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±3.3%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63440" y="1783080"/>
            <a:ext cx="2057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Écart-type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stabilité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914400"/>
            <a:ext cx="2057400" cy="1417320"/>
          </a:xfrm>
          <a:prstGeom prst="rect">
            <a:avLst/>
          </a:prstGeom>
          <a:solidFill>
            <a:srgbClr val="ECFDF5"/>
          </a:solidFill>
          <a:ln w="1651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914400"/>
            <a:ext cx="2057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0241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903720" y="1783080"/>
            <a:ext cx="205740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max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(Commande)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" y="24688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par classe 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" y="2834640"/>
            <a:ext cx="265176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2834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834640" y="2834640"/>
            <a:ext cx="155448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2834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89120" y="2834640"/>
            <a:ext cx="155448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2834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0" y="2834640"/>
            <a:ext cx="155448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834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98080" y="2834640"/>
            <a:ext cx="128016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2834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82880" y="3218688"/>
            <a:ext cx="2651760" cy="329184"/>
          </a:xfrm>
          <a:prstGeom prst="rect">
            <a:avLst/>
          </a:prstGeom>
          <a:solidFill>
            <a:srgbClr val="EFF6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218688"/>
            <a:ext cx="256032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Information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834640" y="3218688"/>
            <a:ext cx="1554480" cy="329184"/>
          </a:xfrm>
          <a:prstGeom prst="rect">
            <a:avLst/>
          </a:prstGeom>
          <a:solidFill>
            <a:srgbClr val="EFF6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32186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89120" y="3218688"/>
            <a:ext cx="1554480" cy="329184"/>
          </a:xfrm>
          <a:prstGeom prst="rect">
            <a:avLst/>
          </a:prstGeom>
          <a:solidFill>
            <a:srgbClr val="EFF6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32186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3218688"/>
            <a:ext cx="1554480" cy="329184"/>
          </a:xfrm>
          <a:prstGeom prst="rect">
            <a:avLst/>
          </a:prstGeom>
          <a:solidFill>
            <a:srgbClr val="EFF6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321868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98080" y="3218688"/>
            <a:ext cx="1280160" cy="329184"/>
          </a:xfrm>
          <a:prstGeom prst="rect">
            <a:avLst/>
          </a:prstGeom>
          <a:solidFill>
            <a:srgbClr val="EFF6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32186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" y="3566160"/>
            <a:ext cx="2651760" cy="329184"/>
          </a:xfrm>
          <a:prstGeom prst="rect">
            <a:avLst/>
          </a:prstGeom>
          <a:solidFill>
            <a:srgbClr val="ECFDF5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3566160"/>
            <a:ext cx="256032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Commande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34640" y="3566160"/>
            <a:ext cx="1554480" cy="329184"/>
          </a:xfrm>
          <a:prstGeom prst="rect">
            <a:avLst/>
          </a:prstGeom>
          <a:solidFill>
            <a:srgbClr val="ECFDF5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0" y="3566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389120" y="3566160"/>
            <a:ext cx="1554480" cy="329184"/>
          </a:xfrm>
          <a:prstGeom prst="rect">
            <a:avLst/>
          </a:prstGeom>
          <a:solidFill>
            <a:srgbClr val="ECFDF5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3566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43600" y="3566160"/>
            <a:ext cx="1554480" cy="329184"/>
          </a:xfrm>
          <a:prstGeom prst="rect">
            <a:avLst/>
          </a:prstGeom>
          <a:solidFill>
            <a:srgbClr val="ECFDF5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3566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98080" y="3566160"/>
            <a:ext cx="1280160" cy="329184"/>
          </a:xfrm>
          <a:prstGeom prst="rect">
            <a:avLst/>
          </a:prstGeom>
          <a:solidFill>
            <a:srgbClr val="ECFDF5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0" y="35661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2880" y="3913632"/>
            <a:ext cx="2651760" cy="329184"/>
          </a:xfrm>
          <a:prstGeom prst="rect">
            <a:avLst/>
          </a:prstGeom>
          <a:solidFill>
            <a:srgbClr val="FFFBEB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032" y="3913632"/>
            <a:ext cx="256032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Réclamation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834640" y="3913632"/>
            <a:ext cx="1554480" cy="329184"/>
          </a:xfrm>
          <a:prstGeom prst="rect">
            <a:avLst/>
          </a:prstGeom>
          <a:solidFill>
            <a:srgbClr val="FFFBEB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34640" y="3913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389120" y="3913632"/>
            <a:ext cx="1554480" cy="329184"/>
          </a:xfrm>
          <a:prstGeom prst="rect">
            <a:avLst/>
          </a:prstGeom>
          <a:solidFill>
            <a:srgbClr val="FFFBEB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3913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943600" y="3913632"/>
            <a:ext cx="1554480" cy="329184"/>
          </a:xfrm>
          <a:prstGeom prst="rect">
            <a:avLst/>
          </a:prstGeom>
          <a:solidFill>
            <a:srgbClr val="FFFBEB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0" y="39136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498080" y="3913632"/>
            <a:ext cx="1280160" cy="329184"/>
          </a:xfrm>
          <a:prstGeom prst="rect">
            <a:avLst/>
          </a:prstGeom>
          <a:solidFill>
            <a:srgbClr val="FFFBEB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98080" y="39136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82880" y="4261104"/>
            <a:ext cx="2651760" cy="329184"/>
          </a:xfrm>
          <a:prstGeom prst="rect">
            <a:avLst/>
          </a:prstGeom>
          <a:solidFill>
            <a:srgbClr val="FEF2F2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032" y="4261104"/>
            <a:ext cx="256032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Urgence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834640" y="4261104"/>
            <a:ext cx="1554480" cy="329184"/>
          </a:xfrm>
          <a:prstGeom prst="rect">
            <a:avLst/>
          </a:prstGeom>
          <a:solidFill>
            <a:srgbClr val="FEF2F2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34640" y="42611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389120" y="4261104"/>
            <a:ext cx="1554480" cy="329184"/>
          </a:xfrm>
          <a:prstGeom prst="rect">
            <a:avLst/>
          </a:prstGeom>
          <a:solidFill>
            <a:srgbClr val="FEF2F2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0" y="42611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943600" y="4261104"/>
            <a:ext cx="1554480" cy="329184"/>
          </a:xfrm>
          <a:prstGeom prst="rect">
            <a:avLst/>
          </a:prstGeom>
          <a:solidFill>
            <a:srgbClr val="FEF2F2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0" y="42611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498080" y="4261104"/>
            <a:ext cx="1280160" cy="329184"/>
          </a:xfrm>
          <a:prstGeom prst="rect">
            <a:avLst/>
          </a:prstGeom>
          <a:solidFill>
            <a:srgbClr val="FEF2F2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42611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82880" y="4608576"/>
            <a:ext cx="2651760" cy="329184"/>
          </a:xfrm>
          <a:prstGeom prst="rect">
            <a:avLst/>
          </a:prstGeom>
          <a:solidFill>
            <a:srgbClr val="E6F6F7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6032" y="4608576"/>
            <a:ext cx="2560320" cy="32918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834640" y="4608576"/>
            <a:ext cx="1554480" cy="329184"/>
          </a:xfrm>
          <a:prstGeom prst="rect">
            <a:avLst/>
          </a:prstGeom>
          <a:solidFill>
            <a:srgbClr val="E6F6F7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34640" y="46085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389120" y="4608576"/>
            <a:ext cx="1554480" cy="329184"/>
          </a:xfrm>
          <a:prstGeom prst="rect">
            <a:avLst/>
          </a:prstGeom>
          <a:solidFill>
            <a:srgbClr val="E6F6F7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46085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5943600" y="4608576"/>
            <a:ext cx="1554480" cy="329184"/>
          </a:xfrm>
          <a:prstGeom prst="rect">
            <a:avLst/>
          </a:prstGeom>
          <a:solidFill>
            <a:srgbClr val="E6F6F7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43600" y="46085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86.5%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498080" y="4608576"/>
            <a:ext cx="1280160" cy="329184"/>
          </a:xfrm>
          <a:prstGeom prst="rect">
            <a:avLst/>
          </a:prstGeom>
          <a:solidFill>
            <a:srgbClr val="E6F6F7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98080" y="46085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182880" y="4983480"/>
            <a:ext cx="8778240" cy="54864"/>
          </a:xfrm>
          <a:prstGeom prst="rect">
            <a:avLst/>
          </a:prstGeom>
          <a:solidFill>
            <a:srgbClr val="E6F6F7"/>
          </a:solidFill>
          <a:ln w="635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API FastAPI : Endpoints &amp; Documentation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run_api.py  →  http://localhost:8000  ·  Swagger : /docs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8778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60120"/>
            <a:ext cx="777240" cy="5212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960120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960120"/>
            <a:ext cx="45720" cy="521208"/>
          </a:xfrm>
          <a:prstGeom prst="rect">
            <a:avLst/>
          </a:prstGeom>
          <a:solidFill>
            <a:srgbClr val="CDD5DF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996696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996696"/>
            <a:ext cx="5760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— informations générales sur l'API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1545336"/>
            <a:ext cx="8778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1545336"/>
            <a:ext cx="777240" cy="5212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1545336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1545336"/>
            <a:ext cx="45720" cy="521208"/>
          </a:xfrm>
          <a:prstGeom prst="rect">
            <a:avLst/>
          </a:prstGeom>
          <a:solidFill>
            <a:srgbClr val="CDD5DF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1581912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63240" y="1581912"/>
            <a:ext cx="5760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l'API + vérification que le modèle ML est chargé en mémoire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130552"/>
            <a:ext cx="8778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130552"/>
            <a:ext cx="777240" cy="5212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130552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2130552"/>
            <a:ext cx="45720" cy="521208"/>
          </a:xfrm>
          <a:prstGeom prst="rect">
            <a:avLst/>
          </a:prstGeom>
          <a:solidFill>
            <a:srgbClr val="CDD5DF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167128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/classes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63240" y="2167128"/>
            <a:ext cx="5760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4 classes disponibles et leurs actions automatiques associées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2715768"/>
            <a:ext cx="8778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2715768"/>
            <a:ext cx="777240" cy="521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2715768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" y="2715768"/>
            <a:ext cx="45720" cy="521208"/>
          </a:xfrm>
          <a:prstGeom prst="rect">
            <a:avLst/>
          </a:prstGeom>
          <a:solidFill>
            <a:srgbClr val="CDD5DF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2752344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063240" y="2752344"/>
            <a:ext cx="5760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Endpoint principal de classification — reçoit un message, retourne la classe + confiance + réponse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" y="3300984"/>
            <a:ext cx="8778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3300984"/>
            <a:ext cx="777240" cy="5212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300984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60120" y="3300984"/>
            <a:ext cx="45720" cy="521208"/>
          </a:xfrm>
          <a:prstGeom prst="rect">
            <a:avLst/>
          </a:prstGeom>
          <a:solidFill>
            <a:srgbClr val="CDD5DF"/>
          </a:solidFill>
          <a:ln w="12700">
            <a:solidFill>
              <a:srgbClr val="CDD5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3337560"/>
            <a:ext cx="19202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063240" y="3337560"/>
            <a:ext cx="5760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Swagger interactive — tester les endpoints directement dans le navigateur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2880" y="3931920"/>
            <a:ext cx="8778240" cy="102412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3931920"/>
            <a:ext cx="137160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27632" y="39319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   →   {"message": "URGENT ! Le paiement Wave est bloqué !"}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82880" y="4251960"/>
            <a:ext cx="137160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251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27632" y="42519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{"classe":"Urgence", "confiance":94.2, "reponse_client":"...", "probabilites":{...}}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56032" y="461772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Swagger UI : http://localhost:8000/docs  ·  Validation automatique Pydantic  ·  CORS activé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Tests Postman : 12 Tests Validés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complète : cas nominaux + cas d'erreur + simulation appel n8n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32688"/>
            <a:ext cx="87782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9326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93268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9326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9326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51960" y="9326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attendu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93268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1280160"/>
            <a:ext cx="87782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280160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1280160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09928" y="128016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15768" y="1280160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70248" y="1280160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nom de l'app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22208" y="1280160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1581912"/>
            <a:ext cx="8778240" cy="283464"/>
          </a:xfrm>
          <a:prstGeom prst="rect">
            <a:avLst/>
          </a:prstGeom>
          <a:solidFill>
            <a:srgbClr val="ECFDF5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1581912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1581912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09928" y="1581912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15768" y="1581912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70248" y="1581912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modèle chargé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22208" y="1581912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2880" y="1883664"/>
            <a:ext cx="87782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1883664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1883664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09928" y="1883664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15768" y="188366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/classes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70248" y="1883664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+ 4 classes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22208" y="1883664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82880" y="2185416"/>
            <a:ext cx="8778240" cy="283464"/>
          </a:xfrm>
          <a:prstGeom prst="rect">
            <a:avLst/>
          </a:prstGeom>
          <a:solidFill>
            <a:srgbClr val="ECFDF5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" y="2185416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2185416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09928" y="2185416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15768" y="2185416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70248" y="2185416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= Information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22208" y="2185416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2487168"/>
            <a:ext cx="87782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" y="2487168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6928" y="2487168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709928" y="2487168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15768" y="2487168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270248" y="2487168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= Commande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22208" y="2487168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82880" y="2788920"/>
            <a:ext cx="8778240" cy="283464"/>
          </a:xfrm>
          <a:prstGeom prst="rect">
            <a:avLst/>
          </a:prstGeom>
          <a:solidFill>
            <a:srgbClr val="ECFDF5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168" y="2788920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6928" y="2788920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709928" y="278892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15768" y="2788920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70248" y="2788920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= Réclamation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522208" y="2788920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82880" y="3090672"/>
            <a:ext cx="87782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1168" y="3090672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" y="3090672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709928" y="3090672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715768" y="3090672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270248" y="3090672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= Urgence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522208" y="3090672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82880" y="3392424"/>
            <a:ext cx="8778240" cy="283464"/>
          </a:xfrm>
          <a:prstGeom prst="rect">
            <a:avLst/>
          </a:prstGeom>
          <a:solidFill>
            <a:srgbClr val="ECFDF5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1168" y="3392424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66928" y="3392424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Struct.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709928" y="3392424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2715768" y="339242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270248" y="3392424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champs + probabilités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522208" y="3392424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82880" y="3694176"/>
            <a:ext cx="8778240" cy="283464"/>
          </a:xfrm>
          <a:prstGeom prst="rect">
            <a:avLst/>
          </a:prstGeom>
          <a:solidFill>
            <a:srgbClr val="FFFFFF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168" y="3694176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66928" y="3694176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Sim.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709928" y="3694176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715768" y="3694176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270248" y="3694176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classe valide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522208" y="3694176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82880" y="3995928"/>
            <a:ext cx="8778240" cy="283464"/>
          </a:xfrm>
          <a:prstGeom prst="rect">
            <a:avLst/>
          </a:prstGeom>
          <a:solidFill>
            <a:srgbClr val="FEF9F9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01168" y="3995928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66928" y="3995928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1709928" y="3995928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2715768" y="3995928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270248" y="3995928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message vide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522208" y="3995928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82880" y="4297680"/>
            <a:ext cx="8778240" cy="283464"/>
          </a:xfrm>
          <a:prstGeom prst="rect">
            <a:avLst/>
          </a:prstGeom>
          <a:solidFill>
            <a:srgbClr val="FEF2F2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01168" y="4297680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566928" y="4297680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709928" y="429768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2715768" y="4297680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4270248" y="4297680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champ manquant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522208" y="4297680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182880" y="4599432"/>
            <a:ext cx="8778240" cy="283464"/>
          </a:xfrm>
          <a:prstGeom prst="rect">
            <a:avLst/>
          </a:prstGeom>
          <a:solidFill>
            <a:srgbClr val="FEF9F9"/>
          </a:solidFill>
          <a:ln w="5080">
            <a:solidFill>
              <a:srgbClr val="CDD5D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01168" y="4599432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66928" y="4599432"/>
            <a:ext cx="1106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1709928" y="4599432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2715768" y="4599432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4270248" y="4599432"/>
            <a:ext cx="4215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mauvaise méthode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8522208" y="4599432"/>
            <a:ext cx="420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Workflow n8n Cloud : 15 Nœuds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37160" y="804672"/>
            <a:ext cx="162763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" y="804672"/>
            <a:ext cx="162763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89611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" y="1517904"/>
            <a:ext cx="162763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75488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64792" y="1371600"/>
            <a:ext cx="246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20240" y="804672"/>
            <a:ext cx="162763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5A6A7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20240" y="804672"/>
            <a:ext cx="1627632" cy="54864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89611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920240" y="1517904"/>
            <a:ext cx="162763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475488"/>
            <a:ext cx="347472" cy="347472"/>
          </a:xfrm>
          <a:prstGeom prst="ellipse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47872" y="1371600"/>
            <a:ext cx="246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03320" y="804672"/>
            <a:ext cx="162763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03320" y="804672"/>
            <a:ext cx="1627632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89611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703320" y="1517904"/>
            <a:ext cx="162763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47548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30952" y="1371600"/>
            <a:ext cx="246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0" y="804672"/>
            <a:ext cx="162763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804672"/>
            <a:ext cx="162763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89611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486400" y="1517904"/>
            <a:ext cx="162763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47548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14032" y="1371600"/>
            <a:ext cx="246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8090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69480" y="804672"/>
            <a:ext cx="1627632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69480" y="804672"/>
            <a:ext cx="162763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896112"/>
            <a:ext cx="16276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269480" y="1517904"/>
            <a:ext cx="1627632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×3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909560" y="475488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475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37160" y="2487168"/>
            <a:ext cx="672084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7160" y="2487168"/>
            <a:ext cx="54864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6032" y="2487168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Urgence  →  Email → urgence@ uniquement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67728" y="2523744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06640" y="2487168"/>
            <a:ext cx="1600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💾 CSV → ✅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2960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37160" y="2971800"/>
            <a:ext cx="672084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37160" y="2971800"/>
            <a:ext cx="54864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6032" y="2971800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Réclamation  →  Email → service-client@ uniquement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967728" y="3008376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67728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406640" y="2971800"/>
            <a:ext cx="1600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💾 CSV → ✅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37160" y="3456432"/>
            <a:ext cx="672084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7160" y="3456432"/>
            <a:ext cx="54864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" y="3456432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Commande  →  Email → stock@ uniquement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967728" y="3493008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67728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406640" y="3456432"/>
            <a:ext cx="1600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💾 CSV → ✅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37160" y="3941064"/>
            <a:ext cx="6720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37160" y="3941064"/>
            <a:ext cx="54864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6032" y="3941064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Information  →  Réponse automatique (aucun email)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967728" y="397764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67728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406640" y="3941064"/>
            <a:ext cx="1600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💾 CSV → ✅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82296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Routing Email : 1 Seul Service Notifié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résolu : 3 IF en parallèle → Cascade (1 seul chemin s'exécute)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-447040" y="1757934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26766" y="1063503"/>
            <a:ext cx="4023360" cy="3931920"/>
          </a:xfrm>
          <a:prstGeom prst="rect">
            <a:avLst/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26766" y="959991"/>
            <a:ext cx="40233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111429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en cascade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52928" y="152221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</a:t>
            </a: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Données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35808" y="1996441"/>
            <a:ext cx="36576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99339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Urgence ? OUI → Email urgence@ STOP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009646" y="2539748"/>
            <a:ext cx="36576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9" name="Text 27"/>
          <p:cNvSpPr/>
          <p:nvPr/>
        </p:nvSpPr>
        <p:spPr>
          <a:xfrm>
            <a:off x="3273552" y="2585721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NON →  Réclamation ? OUI → Email service-client@ STOP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035808" y="3107183"/>
            <a:ext cx="36576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152649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NON →  Commande ? OUI → Email stock@ STOP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35808" y="3633221"/>
            <a:ext cx="365760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719577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NON → Pas d'email interne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009646" y="4238244"/>
            <a:ext cx="365760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5" name="Text 33"/>
          <p:cNvSpPr/>
          <p:nvPr/>
        </p:nvSpPr>
        <p:spPr>
          <a:xfrm>
            <a:off x="3101086" y="4245615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seul email par demande — service ciblé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Configuration Email SMTP Gmail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→ Settings → Credentials → Add → SMTP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8778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60120"/>
            <a:ext cx="54864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109728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1014984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la validation en 2 étapes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9808" y="128930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myaccount.google.com → Sécurité → Validation en deux étapes → Activer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" y="1673352"/>
            <a:ext cx="8778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1673352"/>
            <a:ext cx="54864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181051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1728216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mot de passe d'application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200253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→ Mots de passe des applications → Autre → « n8n PME » → Copier les 16 caractères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2386584"/>
            <a:ext cx="8778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386584"/>
            <a:ext cx="54864" cy="6217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" y="252374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2441448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le credential SMTP dans n8n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9808" y="2715768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Credentials → Add Credential → SMTP → Remplir les champs → Test connection ✅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2880" y="3099816"/>
            <a:ext cx="8778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DD5DF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099816"/>
            <a:ext cx="54864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" y="3236976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3154680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Lier le credential aux nœuds Email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9808" y="3429000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</a:t>
            </a:r>
            <a:r>
              <a:rPr lang="en-US" sz="105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</a:t>
            </a:r>
            <a:r>
              <a:rPr lang="en-US" sz="105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Email </a:t>
            </a: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champ Credential → sélectionner « SMTP account »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82880" y="384048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SMTP 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4206240"/>
            <a:ext cx="1664208" cy="731520"/>
          </a:xfrm>
          <a:prstGeom prst="rect">
            <a:avLst/>
          </a:prstGeom>
          <a:solidFill>
            <a:srgbClr val="F7F9FC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4206240"/>
            <a:ext cx="166420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2976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2880" y="4590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smtp.gmail.com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38528" y="4206240"/>
            <a:ext cx="166420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38528" y="4206240"/>
            <a:ext cx="166420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38528" y="42976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38528" y="4590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94176" y="4206240"/>
            <a:ext cx="1664208" cy="731520"/>
          </a:xfrm>
          <a:prstGeom prst="rect">
            <a:avLst/>
          </a:prstGeom>
          <a:solidFill>
            <a:srgbClr val="F7F9FC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94176" y="4206240"/>
            <a:ext cx="166420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94176" y="42976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94176" y="4590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email@gmail.com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49824" y="4206240"/>
            <a:ext cx="166420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49824" y="4206240"/>
            <a:ext cx="166420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9824" y="42976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49824" y="4590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car. app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05472" y="4206240"/>
            <a:ext cx="1664208" cy="731520"/>
          </a:xfrm>
          <a:prstGeom prst="rect">
            <a:avLst/>
          </a:prstGeom>
          <a:solidFill>
            <a:srgbClr val="F7F9FC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05472" y="4206240"/>
            <a:ext cx="166420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5472" y="42976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205472" y="459028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STARTTLS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— 4 Cas d'Usage Réels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complet : Formulaire n8n → API ML → Email service ciblé → Confirmation 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5070348"/>
            <a:ext cx="88696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0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DITI4 — ML 2025  ·  Marieme DIOP  ·  Babacar SARR  ·  Dieynaba SOW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8778240" cy="896112"/>
          </a:xfrm>
          <a:prstGeom prst="rect">
            <a:avLst/>
          </a:prstGeom>
          <a:solidFill>
            <a:srgbClr val="EFF6FF"/>
          </a:solidFill>
          <a:ln w="16510">
            <a:solidFill>
              <a:srgbClr val="2563E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60120"/>
            <a:ext cx="54864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149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Bonjour, est-ce que le riz parfumé est disponible aujourd'hui ? 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005840"/>
            <a:ext cx="25146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0058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ℹ️ Information  (75%)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145389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Réponse automatique client. Aucun email interne envoyé.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1965960"/>
            <a:ext cx="8778240" cy="896112"/>
          </a:xfrm>
          <a:prstGeom prst="rect">
            <a:avLst/>
          </a:prstGeom>
          <a:solidFill>
            <a:srgbClr val="ECFDF5"/>
          </a:solidFill>
          <a:ln w="16510">
            <a:solidFill>
              <a:srgbClr val="059669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1965960"/>
            <a:ext cx="54864" cy="8961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2082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veux commander 5 cartons d'eau minérale pour demain matin. 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011680"/>
            <a:ext cx="25146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011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Commande  (88%)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245973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N° CMD généré + Email envoyé à stock@ uniquement.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" y="2971800"/>
            <a:ext cx="8778240" cy="896112"/>
          </a:xfrm>
          <a:prstGeom prst="rect">
            <a:avLst/>
          </a:prstGeom>
          <a:solidFill>
            <a:srgbClr val="FFFBEB"/>
          </a:solidFill>
          <a:ln w="16510">
            <a:solidFill>
              <a:srgbClr val="D9770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971800"/>
            <a:ext cx="54864" cy="8961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2666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J'ai acheté du lait hier mais il était périmé. Je veux un remboursement. 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017520"/>
            <a:ext cx="25146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0175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Réclamation  (82%)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46557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Ticket REC créé + Email envoyé à service-client@ uniquement.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" y="3977640"/>
            <a:ext cx="8778240" cy="896112"/>
          </a:xfrm>
          <a:prstGeom prst="rect">
            <a:avLst/>
          </a:prstGeom>
          <a:solidFill>
            <a:srgbClr val="FEF2F2"/>
          </a:solidFill>
          <a:ln w="16510">
            <a:solidFill>
              <a:srgbClr val="DC2626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977640"/>
            <a:ext cx="54864" cy="8961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0325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URGENT ! Le paiement Wave est bloqué ! Des clients attendent ! »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4023360"/>
            <a:ext cx="25146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0233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Urgence  (94%)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471416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Alerte immédiate + Email envoyé à urgence@ uniquement.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200400" cy="5015484"/>
          </a:xfrm>
          <a:prstGeom prst="rect">
            <a:avLst/>
          </a:prstGeom>
          <a:solidFill>
            <a:srgbClr val="061629"/>
          </a:solidFill>
          <a:ln w="12700">
            <a:solidFill>
              <a:srgbClr val="0616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926080"/>
            <a:ext cx="3017520" cy="3017520"/>
          </a:xfrm>
          <a:prstGeom prst="ellipse">
            <a:avLst/>
          </a:prstGeom>
          <a:solidFill>
            <a:srgbClr val="031020"/>
          </a:solidFill>
          <a:ln w="12700">
            <a:solidFill>
              <a:srgbClr val="031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337560"/>
            <a:ext cx="2194560" cy="219456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486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dirty="0">
                <a:solidFill>
                  <a:srgbClr val="000000"/>
                </a:solidFill>
              </a:rPr>
              <a:t>🏆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13716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Projet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621792"/>
            <a:ext cx="5577840" cy="475488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621792"/>
            <a:ext cx="4572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640080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Dataset : 185 exemples annotés, 4 classes équilibrées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1170432"/>
            <a:ext cx="5577840" cy="475488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170432"/>
            <a:ext cx="4572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188720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Modèle ML : 86.5% accuracy  ·  87.9% F1 (CV-5 folds)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1719072"/>
            <a:ext cx="5577840" cy="475488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719072"/>
            <a:ext cx="4572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737360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API FastAPI : 4 endpoints  ·  Swagger  ·  Pydantic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2267712"/>
            <a:ext cx="5577840" cy="475488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267712"/>
            <a:ext cx="4572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286000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12 tests Postman validés (nominaux + erreurs 422/405)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2816352"/>
            <a:ext cx="5577840" cy="475488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816352"/>
            <a:ext cx="4572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2834640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Workflow n8n Cloud : 15 nœuds  ·  IF en cascade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83280" y="3364992"/>
            <a:ext cx="5577840" cy="475488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364992"/>
            <a:ext cx="4572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383280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Routing email précis : 1 seul service par demande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3280" y="3913632"/>
            <a:ext cx="5577840" cy="475488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3913632"/>
            <a:ext cx="4572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3931920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SMTP Gmail configuré  ·  Mot de passe application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4462272"/>
            <a:ext cx="5577840" cy="475488"/>
          </a:xfrm>
          <a:prstGeom prst="rect">
            <a:avLst/>
          </a:prstGeom>
          <a:solidFill>
            <a:srgbClr val="0A1929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4462272"/>
            <a:ext cx="4572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4480560"/>
            <a:ext cx="5413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Historique CSV  ·  Confirmation client personnalisée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83280" y="4754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Marieme DIOP  ·  Babacar SARR  ·  Dieynaba SOW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1807</Words>
  <Application>Microsoft Office PowerPoint</Application>
  <PresentationFormat>Affichage à l'écran (16:9)</PresentationFormat>
  <Paragraphs>494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Mariama DIOP</cp:lastModifiedBy>
  <cp:revision>3</cp:revision>
  <dcterms:created xsi:type="dcterms:W3CDTF">2026-02-26T13:05:44Z</dcterms:created>
  <dcterms:modified xsi:type="dcterms:W3CDTF">2026-02-26T17:57:49Z</dcterms:modified>
</cp:coreProperties>
</file>